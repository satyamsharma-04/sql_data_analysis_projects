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0" r:id="rId6"/>
    <p:sldId id="258" r:id="rId7"/>
    <p:sldId id="261" r:id="rId8"/>
    <p:sldId id="262" r:id="rId9"/>
    <p:sldId id="283" r:id="rId10"/>
    <p:sldId id="264" r:id="rId11"/>
    <p:sldId id="266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ndeep Patel" initials="MP" lastIdx="3" clrIdx="0">
    <p:extLst>
      <p:ext uri="{19B8F6BF-5375-455C-9EA6-DF929625EA0E}">
        <p15:presenceInfo xmlns:p15="http://schemas.microsoft.com/office/powerpoint/2012/main" userId="b20df4f59afbd6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0FF0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30T18:12:57.457" idx="3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1:49:20.3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512 350 24575,'-1'1'0,"1"-1"0,0 0 0,-1 0 0,1 0 0,0 0 0,-1 0 0,1 0 0,0 0 0,-1 0 0,1 0 0,0 0 0,-1-1 0,1 1 0,0 0 0,-1 0 0,1 0 0,0 0 0,-1 0 0,1 0 0,0-1 0,0 1 0,-1 0 0,1 0 0,0-1 0,0 1 0,-1 0 0,1 0 0,0-1 0,0 1 0,0 0 0,-1 0 0,1-1 0,0 1 0,0 0 0,0-1 0,0 1 0,0-1 0,0 1 0,0-1 0,0 0 0,0 1 0,1-1 0,-1 1 0,0-1 0,1 1 0,-1-1 0,0 1 0,1 0 0,-1-1 0,0 1 0,1-1 0,-1 1 0,1 0 0,-1-1 0,1 1 0,-1 0 0,1 0 0,-1-1 0,1 1 0,-1 0 0,2 0 0,84-25 0,-57 18 0,-1-1 0,0-2 0,29-13 0,-57 23 0,1 0 0,-1-1 0,1 1 0,0 0 0,-1 0 0,1-1 0,-1 1 0,1 0 0,-1 0 0,1-1 0,-1 1 0,1-1 0,-1 1 0,1-1 0,-1 1 0,1-1 0,-1 1 0,0-1 0,1 1 0,-1-1 0,0 1 0,1-1 0,-1 1 0,0-1 0,0-1 0,-12-3 0,-34 2 0,42 3 0,-358 2 0,350-3 0,17-3 0,23-6 0,-25 9 0,62-16 0,0 3 0,131-11 0,142 18 0,-330 7 0,-5 1 0,1-1 0,-1 0 0,0 0 0,1 0 0,-1 0 0,1 0 0,-1-1 0,0 0 0,1 1 0,-1-1 0,0-1 0,0 1 0,1 0 0,2-3 0,-6 4 0,0-1 0,0 1 0,0 0 0,0-1 0,0 1 0,0 0 0,0-1 0,0 1 0,0 0 0,0-1 0,0 1 0,0 0 0,0-1 0,-1 1 0,1 0 0,0-1 0,0 1 0,0 0 0,0-1 0,-1 1 0,1 0 0,0 0 0,-1-1 0,1 1 0,0 0 0,0 0 0,-1 0 0,1-1 0,0 1 0,-1 0 0,1 0 0,0 0 0,-1 0 0,1 0 0,0 0 0,-1 0 0,1 0 0,0-1 0,-1 1 0,1 0 0,-1 1 0,1-1 0,0 0 0,-1 0 0,-18-4 0,-220 0 0,206 5 0,67-1 0,144-5 0,-152 3 0,1-2 0,-1-1 0,1-1 0,40-15 0,-65 21 0,-1-1 0,1 1 0,0-1 0,-1 0 0,1 1 0,-1-1 0,1 0 0,-1 0 0,0 0 0,1 0 0,-1 0 0,0 0 0,0-1 0,2-1 0,-3 2 0,0 1 0,0-1 0,0 1 0,0-1 0,0 1 0,0-1 0,0 1 0,0 0 0,-1-1 0,1 1 0,0-1 0,0 1 0,0 0 0,-1-1 0,1 1 0,0-1 0,-1 1 0,1 0 0,0-1 0,-1 1 0,1 0 0,0 0 0,-1-1 0,1 1 0,-1 0 0,1 0 0,0-1 0,-1 1 0,1 0 0,-1 0 0,1 0 0,-1 0 0,-7-3 0,0 1 0,-1 0 0,1 1 0,-13-1 0,-80 0 0,0 4 0,-151 24 0,250-26 0,0 0 0,0 0 0,1 0 0,-1 1 0,0-1 0,0 1 0,0-1 0,0 1 0,1 0 0,-1 0 0,0 0 0,1 0 0,-1 0 0,0 0 0,-1 2 0,2-2 0,1 0 0,0-1 0,-1 1 0,1 0 0,0-1 0,0 1 0,0 0 0,-1 0 0,1-1 0,0 1 0,0 0 0,0-1 0,0 1 0,0 0 0,1 0 0,-1-1 0,0 1 0,0 0 0,0-1 0,1 1 0,-1 0 0,0-1 0,1 1 0,-1 0 0,0-1 0,2 2 0,1 2 0,0-1 0,0 0 0,1 1 0,0-1 0,-1 0 0,1-1 0,0 1 0,1-1 0,-1 0 0,8 3 0,5 0 0,1-1 0,25 3 0,-27-5 0,-1 0 0,0 2 0,26 7 0,-83-5 0,-50-7 0,174 2 0,80-3 0,-160 2 0,-1 0 0,0 0 0,0 0 0,1 0 0,-1 0 0,0 0 0,0-1 0,0 1 0,1 0 0,-1-1 0,0 1 0,0-1 0,0 1 0,0-1 0,0 1 0,0-1 0,0 0 0,0 0 0,0 1 0,1-2 0,-3 1 0,1 0 0,-1 0 0,0 1 0,1-1 0,-1 0 0,0 1 0,1-1 0,-1 0 0,0 1 0,0-1 0,0 1 0,0-1 0,0 1 0,1-1 0,-1 1 0,0 0 0,0 0 0,0-1 0,0 1 0,0 0 0,0 0 0,0 0 0,0 0 0,0 0 0,-2 0 0,-78-7 0,-149 6 0,117 3 0,103-2 0,7 0 0,-1-1 0,1 1 0,-1 0 0,0 0 0,1 0 0,-1 1 0,1-1 0,-1 1 0,1 0 0,-1 0 0,1 0 0,-1 1 0,1-1 0,-4 3 0,7-4 0,0 1 0,0-1 0,0 1 0,0-1 0,0 0 0,1 1 0,-1-1 0,0 1 0,0-1 0,0 1 0,1-1 0,-1 0 0,0 1 0,0-1 0,1 0 0,-1 1 0,0-1 0,1 0 0,-1 1 0,0-1 0,1 0 0,-1 0 0,0 1 0,1-1 0,-1 0 0,1 0 0,-1 0 0,1 0 0,-1 1 0,0-1 0,1 0 0,-1 0 0,1 0 0,-1 0 0,1 0 0,-1 0 0,1 0 0,-1 0 0,1-1 0,22 5 0,199 0 0,-157-5 0,-151 0 0,-111 2 0,195-1 0,0 0 0,0 1 0,0-1 0,0 0 0,0 1 0,0-1 0,0 1 0,0-1 0,0 1 0,0 0 0,0 0 0,0 0 0,1 0 0,-1 0 0,0 1 0,1-1 0,-1 0 0,1 1 0,-2 1 0,2-2 0,1-1 0,0 1 0,0-1 0,0 1 0,0-1 0,0 1 0,-1-1 0,1 1 0,0-1 0,0 1 0,0-1 0,0 1 0,1-1 0,-1 1 0,0-1 0,0 1 0,0-1 0,0 0 0,0 1 0,1-1 0,-1 1 0,0-1 0,0 1 0,1-1 0,-1 1 0,0-1 0,1 1 0,1 0 0,-1 1 0,1-1 0,0 0 0,0 0 0,0 0 0,0 0 0,0 0 0,0 0 0,0 0 0,2 0 0,132 44 0,-109-40 0,-28-8 0,-16-1 0,-86-3 0,93 6 0,14 1 0,26 1 0,36 0 0,-61-1 0,0-1 0,-1 1 0,1-1 0,0 0 0,0-1 0,-1 1 0,1-1 0,-1 0 0,1 0 0,5-4 0,-9 6 0,0-1 0,0 0 0,0 1 0,0-1 0,0 0 0,0 0 0,0 0 0,0 0 0,0 0 0,0 0 0,-1 0 0,1 0 0,0 0 0,-1 0 0,1 0 0,-1 0 0,1 0 0,-1-1 0,1 1 0,-1 0 0,0 0 0,0-1 0,0-1 0,0 2 0,-1 0 0,1-1 0,-1 1 0,1 0 0,-1 0 0,0-1 0,0 1 0,0 0 0,1 0 0,-1 0 0,0 0 0,0 0 0,-1 0 0,1 0 0,0 1 0,0-1 0,-2-1 0,-4-1 0,0 0 0,0 0 0,0 1 0,-1-1 0,1 2 0,-13-3 0,-55 5 0,59 1 0,0-2 0,0 0 0,-1-1 0,-30-5 0,47 6 0,0 0 0,0 0 0,-1 0 0,1 0 0,0 0 0,-1 0 0,1 0 0,0 0 0,0 0 0,-1 0 0,1 0 0,0 0 0,0 0 0,0 0 0,-1-1 0,1 1 0,0 0 0,0 0 0,-1 0 0,1 0 0,0-1 0,0 1 0,0 0 0,0 0 0,-1 0 0,1-1 0,0 1 0,0 0 0,0 0 0,0 0 0,0-1 0,0 1 0,0 0 0,-1 0 0,1-1 0,0 1 0,0 0 0,0 0 0,0-1 0,0 1 0,0 0 0,11-8 0,17-3 0,59-9 0,52-16 0,-124 31 0,0-1 0,0-1 0,0 0 0,-1-1 0,0-1 0,22-18 0,-35 27 0,0-1 0,0 0 0,0 1 0,0-1 0,-1 0 0,1 0 0,0 1 0,0-1 0,-1 0 0,1 0 0,-1 0 0,1 0 0,-1 0 0,1 0 0,-1 0 0,1 0 0,-1 0 0,0 0 0,0 0 0,1-2 0,-1 2 0,-1 1 0,1-1 0,-1 0 0,1 1 0,-1-1 0,1 1 0,-1-1 0,1 0 0,-1 1 0,1-1 0,-1 1 0,1 0 0,-1-1 0,0 1 0,1 0 0,-1-1 0,0 1 0,1 0 0,-1-1 0,0 1 0,0 0 0,0 0 0,-10-2 0,1 1 0,-1 1 0,-13 0 0,15 0 0,-29-1 0,14 0 0,1 0 0,-1 2 0,1 1 0,-29 6 0,52-8 0,-1 0 0,1 0 0,-1 0 0,1 0 0,-1 0 0,1 0 0,-1 0 0,1 0 0,-1 0 0,1 1 0,-1-1 0,1 0 0,0 0 0,-1 0 0,1 1 0,-1-1 0,1 0 0,0 1 0,-1-1 0,1 0 0,0 1 0,-1-1 0,1 0 0,0 1 0,0-1 0,-1 1 0,1-1 0,0 1 0,0-1 0,0 0 0,0 1 0,-1-1 0,1 1 0,0-1 0,0 1 0,0 0 0,14 14 0,34 11 0,-44-25 0,-1 1 0,0-1 0,-1 1 0,1-1 0,0 0 0,0 0 0,0 0 0,0 0 0,0-1 0,0 1 0,0-1 0,1 0 0,-1 0 0,0 0 0,0 0 0,4-1 0,-47-9 0,-44 4 0,0 3 0,0 5 0,0 2 0,-95 19 0,173-22 0,-4 0 0,0 1 0,0 0 0,1 1 0,-1 0 0,0 0 0,1 1 0,0 0 0,0 0 0,-10 7 0,18-10 0,1 0 0,-1-1 0,0 1 0,1-1 0,-1 1 0,0 0 0,1-1 0,-1 1 0,1 0 0,-1 0 0,1-1 0,0 1 0,-1 0 0,1 0 0,0 0 0,-1 0 0,1 0 0,0-1 0,0 1 0,0 0 0,0 0 0,0 0 0,0 0 0,0 0 0,0 0 0,0 1 0,1-1 0,0 1 0,0 0 0,0-1 0,0 1 0,0 0 0,0-1 0,0 1 0,0-1 0,1 0 0,-1 1 0,4 1 0,4 3 0,0 0 0,1 0 0,14 5 0,-21-10 0,41 16 0,0-2 0,0-2 0,2-2 0,-1-2 0,87 5 0,-139-14 0,0-1 0,0 1 0,0 0 0,0 1 0,0 0 0,0 0 0,0 1 0,-9 2 0,16-3 0,0-1 0,0 0 0,0 0 0,-1 0 0,1 0 0,0 1 0,0-1 0,0 0 0,0 0 0,0 0 0,0 1 0,0-1 0,0 0 0,0 0 0,0 0 0,0 1 0,0-1 0,0 0 0,0 0 0,0 0 0,0 1 0,0-1 0,0 0 0,0 0 0,0 0 0,0 1 0,0-1 0,0 0 0,0 0 0,0 0 0,0 1 0,1-1 0,-1 0 0,0 0 0,0 0 0,0 0 0,0 1 0,0-1 0,1 0 0,-1 0 0,0 0 0,0 0 0,0 0 0,0 0 0,1 1 0,-1-1 0,0 0 0,0 0 0,1 0 0,-1 0 0,0 0 0,0 0 0,0 0 0,1 0 0,-1 0 0,0 0 0,0 0 0,0 0 0,1 0 0,-1 0 0,21 6 0,-15-4 0,-10-2-91,0 1 0,0-1 0,0 0 0,0-1 0,0 1 0,0-1 0,0 1 0,0-1 0,0-1 0,0 1 0,0 0 0,0-1 0,1 0 0,-8-4 0,-1-6-6735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1:49:28.447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305 415 24575,'16'-2'0,"-1"0"0,0-1 0,1-1 0,-1 0 0,-1-1 0,1-1 0,21-12 0,-8 5 0,284-152 0,-183 92 0,100-39 0,-223 110 0,1 0 0,0 1 0,-1 0 0,1 0 0,0 1 0,-1 0 0,1 0 0,0 0 0,0 1 0,-1 0 0,1 1 0,8 2 0,30 4 0,113 18 0,2 1 0,-68-22 0,116-9 0,-105-9 0,-67 7 0,55-2 0,-52 10 0,0 1 0,0 2 0,0 2 0,-1 2 0,0 1 0,71 29 0,23 24 0,-121-57 0,0 0 0,0 0 0,-1 1 0,0 1 0,0 0 0,-1 0 0,0 1 0,0 0 0,14 19 0,-23-27 0,1 0 0,-1 1 0,0-1 0,1 0 0,-1 0 0,0 1 0,0-1 0,0 0 0,0 0 0,0 1 0,0-1 0,0 0 0,-1 0 0,1 1 0,0-1 0,-1 0 0,1 0 0,-1 0 0,1 0 0,-1 1 0,1-1 0,-1 0 0,0 0 0,0 0 0,0 0 0,1 0 0,-1-1 0,0 1 0,0 0 0,0 0 0,0-1 0,0 1 0,0 0 0,-2 0 0,-45 25 0,42-23 0,-8 2 0,0 0 0,-1-1 0,-28 4 0,-19 6 0,2 8 0,-84 44 0,93-41 0,14-5 0,28-15 0,1 0 0,-1 0 0,0-1 0,0-1 0,-1 1 0,1-1 0,-1-1 0,0 0 0,-14 2 0,8-4 0,1 1 0,-1 0 0,1 1 0,0 1 0,0 0 0,0 1 0,-25 11 0,29-10 0,0-1 0,0-1 0,0 0 0,0-1 0,0 0 0,-1 0 0,1-1 0,0-1 0,-20-1 0,-7-4 0,-59-14 0,40 7 0,-115-30 0,-209-79 0,132 48 0,69 30 0,57 16 0,163 24 0,108 4 0,22 1 0,247-29 0,-319 13 0,11-4 0,200-5 0,-268 24 0,119-4 0,-141 1 0,0 0 0,0-1 0,0-2 0,0 0 0,-1 0 0,21-11 0,-39 16 0,0 0 0,1 0 0,-1 0 0,0 0 0,0 0 0,0 0 0,0 0 0,1 0 0,-1 0 0,0 0 0,0 0 0,0 0 0,0 0 0,0 0 0,1 0 0,-1 0 0,0 0 0,0 0 0,0-1 0,0 1 0,0 0 0,1 0 0,-1 0 0,0 0 0,0 0 0,0 0 0,0 0 0,0-1 0,0 1 0,0 0 0,0 0 0,0 0 0,0 0 0,0 0 0,1-1 0,-1 1 0,0 0 0,0 0 0,0 0 0,0 0 0,0 0 0,0-1 0,0 1 0,0 0 0,0 0 0,0 0 0,-1 0 0,1-1 0,0 1 0,0 0 0,0 0 0,0 0 0,0 0 0,0 0 0,0-1 0,0 1 0,0 0 0,-14-4 0,-19 2 0,0 3 0,1 2 0,0 2 0,-50 13 0,-8 1 0,-7 2 0,-112 40 0,11-2 0,55-25 0,-1-7 0,-2-6 0,-237 3 0,193-11 0,17 0 0,152-13 0,5 0 0,1 0 0,0 0 0,-1 1 0,1 1 0,0 1 0,0 0 0,-25 9 0,40-12 0,0 0 0,-1 0 0,1 0 0,-1 0 0,1 1 0,0-1 0,-1 0 0,1 0 0,0 0 0,-1 0 0,1 1 0,0-1 0,-1 0 0,1 0 0,0 1 0,-1-1 0,1 0 0,0 1 0,0-1 0,-1 0 0,1 1 0,0-1 0,0 0 0,0 1 0,0-1 0,-1 1 0,1-1 0,0 0 0,0 1 0,0-1 0,0 1 0,0-1 0,0 0 0,0 1 0,0-1 0,0 1 0,0-1 0,0 0 0,0 1 0,1-1 0,-1 0 0,0 1 0,0-1 0,0 1 0,0-1 0,1 0 0,-1 1 0,0-1 0,0 0 0,1 1 0,-1-1 0,0 0 0,1 0 0,-1 1 0,0-1 0,1 0 0,-1 0 0,0 0 0,1 1 0,-1-1 0,0 0 0,1 0 0,-1 0 0,1 0 0,-1 0 0,1 0 0,30 11 0,-31-10 0,47 8 0,-1-1 0,96 3 0,-51-6 0,136 7-370,-1-10 0,323-39 0,-356 17 325,148-19-63,-316 36 318,0-1-1,0-1 1,24-9 0,-100 9 214,-93 7-424,0 6 0,-214 40 0,222-22-347,-225 76 0,334-89 347,27-13 0,0 0 0,0 0 0,1 0 0,-1 0 0,0 0 0,1 0 0,-1 1 0,0-1 0,1 0 0,-1 0 0,0 0 0,0 0 0,1 0 0,-1 0 0,0 1 0,0-1 0,1 0 0,-1 0 0,0 1 0,0-1 0,0 0 0,1 0 0,-1 0 0,0 1 0,0-1 0,0 0 0,0 1 0,0-1 0,1 0 0,-1 0 0,0 1 0,0-1 0,0 0 0,0 1 0,0-1 0,0 0 0,0 1 0,0-1 0,0 0 0,0 0 0,0 1 0,0-1 0,0 0 0,-1 1 0,1-1 0,0 0 0,0 1 0,0-1 0,0 0 0,0 0 0,-1 1 0,1-1 0,0 0 0,0 0 0,0 0 0,-1 1 0,1-1 0,0 0 0,0 0 0,-1 0 0,1 1 0,-1-1 0,29 4 140,0-2 0,1 0 1,52-5-1,-17 1-7,20-2-230,1-4-1,136-29 0,160-64-306,-263 67 367,25-7 37,215-54 0,-330 85 367,-22 3-114,-19 1-139,-20 2-114,0 1 0,-1 2 0,-45 3 0,9 0 0,-25-3 0,42-1 0,1 2 0,-66 9 0,117-9 0,-34 7 0,28-1 0,23 0 0,103 16 0,231 11 0,-146-33-1365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1:49:32.747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 0 24575,'1612'0'0,"-1431"14"0,4 0 0,-205-13 0,1 1 0,0 1 0,-37 10 0,-66 28 0,41-14 0,36-10 0,0 2 0,-55 33 0,26-14 0,59-31 0,-1-2 0,0 0 0,0 0 0,-26 3 0,23-5 0,1 1 0,0 0 0,-19 9 0,28-9 0,-6 1 0,1 1 0,0 1 0,0 0 0,1 1 0,-18 14 0,31-22 0,0 0 0,0 0 0,-1 0 0,1 0 0,0 1 0,0-1 0,0 0 0,-1 0 0,1 0 0,0 1 0,0-1 0,0 0 0,0 0 0,0 0 0,0 1 0,0-1 0,-1 0 0,1 0 0,0 1 0,0-1 0,0 0 0,0 0 0,0 1 0,0-1 0,0 0 0,0 0 0,0 1 0,0-1 0,0 0 0,0 0 0,1 1 0,-1-1 0,0 0 0,0 0 0,0 1 0,0-1 0,0 0 0,0 0 0,1 0 0,-1 1 0,0-1 0,0 0 0,1 0 0,14 6 0,20-3 0,-34-3 0,34-1 0,-1-1 0,63-13 0,-65 8 0,1 2 0,0 2 0,44 0 0,-72 3 0,37 0 0,-41 0 0,0 0 0,0 0 0,0 0 0,0 0 0,0 0 0,0 0 0,0-1 0,0 1 0,0 0 0,0 0 0,0-1 0,0 1 0,0-1 0,0 1 0,0-1 0,-1 1 0,1-1 0,0 1 0,0-1 0,0 0 0,-1 1 0,1-1 0,0 0 0,-1 0 0,1 0 0,-1 1 0,1-1 0,-1 0 0,0 0 0,1 0 0,-1 0 0,0 0 0,1-1 0,-1 1 0,-1-1 0,1 1 0,-1 0 0,0 0 0,1 0 0,-1 0 0,0 0 0,0 0 0,1 0 0,-1 0 0,0 1 0,0-1 0,0 0 0,0 0 0,0 1 0,0-1 0,0 1 0,0-1 0,0 1 0,-1-1 0,1 1 0,0 0 0,0-1 0,0 1 0,-2 0 0,-35-6 0,35 6 0,-246-3 0,131 6 0,-259 28 0,178-9 0,55 2 0,237-23 0,-68-3 0,0-2 0,0 0 0,0-2 0,-1-1 0,0-1 0,0-1 0,-1-1 0,37-21 0,-59 31 0,-1 0 0,1-1 0,0 1 0,-1 0 0,1-1 0,-1 1 0,1-1 0,-1 1 0,1 0 0,-1-1 0,1 1 0,-1-1 0,1 1 0,-1-1 0,1 0 0,-1 1 0,0-1 0,1 1 0,-1-1 0,0 0 0,0 1 0,0-1 0,1 0 0,-1 1 0,0-1 0,0 0 0,0 0 0,-1 0 0,1 0 0,-1 1 0,1-1 0,-1 1 0,0-1 0,1 1 0,-1-1 0,0 1 0,0-1 0,1 1 0,-1-1 0,0 1 0,0 0 0,0 0 0,0-1 0,1 1 0,-3 0 0,-43-4 0,45 4 0,-40-1 0,20 0 0,-1 0 0,0 2 0,0 0 0,1 1 0,-1 2 0,-20 5 0,41-9 0,1 0 0,0 0 0,-1 0 0,1 0 0,0 0 0,-1 0 0,1 0 0,0 0 0,-1 0 0,1 0 0,0 0 0,-1 0 0,1 0 0,0 0 0,0 0 0,-1 0 0,1 1 0,0-1 0,-1 0 0,1 0 0,0 0 0,0 0 0,-1 1 0,1-1 0,0 0 0,0 0 0,0 1 0,-1-1 0,1 0 0,0 0 0,0 1 0,0-1 0,0 0 0,0 1 0,0-1 0,-1 0 0,1 1 0,0-1 0,0 0 0,0 1 0,0-1 0,0 1 0,17-1 0,9-9 0,-1 0 0,0-2 0,-1-1 0,32-20 0,-19 11 0,15-9 0,75-56 0,-126 85 0,-1 1 0,1-1 0,0 1 0,0-1 0,-1 1 0,1-1 0,0 1 0,-1-1 0,1 0 0,-1 1 0,1-1 0,-1 0 0,1 0 0,-1 0 0,1 1 0,-1-1 0,0 0 0,1 0 0,-1 0 0,0 0 0,0-1 0,0 1 0,0 1 0,-1-1 0,1 1 0,-1-1 0,1 1 0,-1-1 0,1 1 0,-1 0 0,1-1 0,-1 1 0,1-1 0,-1 1 0,1 0 0,-1 0 0,0-1 0,1 1 0,-1 0 0,0 0 0,1 0 0,-1-1 0,-1 1 0,-50-1 0,42 2 0,-163 3 0,153-4 0,-193 1 0,202-1 0,1 2 0,0-1 0,0 2 0,-1-1 0,1 1 0,1 1 0,-1 0 0,0 0 0,1 1 0,-17 11 0,26-16 0,-1 1 0,0-1 0,1 1 0,-1-1 0,1 1 0,-1-1 0,1 1 0,-1 0 0,1-1 0,-1 1 0,1 0 0,0-1 0,-1 1 0,1 0 0,0 0 0,0-1 0,-1 1 0,1 0 0,0 0 0,0-1 0,0 1 0,0 0 0,0 0 0,0-1 0,0 1 0,0 0 0,0 0 0,0-1 0,1 2 0,0 0 0,0-1 0,0 1 0,0-1 0,1 0 0,-1 1 0,0-1 0,0 0 0,1 0 0,-1 0 0,1 0 0,-1 0 0,3 1 0,2 0 0,0 1 0,0-1 0,0 0 0,1 0 0,-1-1 0,8 1 0,-1-2 0,0-1 0,0 0 0,25-6 0,-38 7 0,0 0 0,0 0 0,0 0 0,-1 0 0,1 0 0,0 0 0,0 0 0,0 0 0,0 0 0,0 0 0,0 0 0,0-1 0,0 1 0,0 0 0,0 0 0,0 0 0,0 0 0,0 0 0,0 0 0,0 0 0,0 0 0,0 0 0,0 0 0,0-1 0,0 1 0,0 0 0,1 0 0,-1 0 0,0 0 0,0 0 0,0 0 0,0 0 0,0 0 0,0 0 0,0 0 0,0 0 0,0 0 0,0 0 0,0-1 0,0 1 0,0 0 0,0 0 0,1 0 0,-1 0 0,0 0 0,0 0 0,0 0 0,0 0 0,0 0 0,0 0 0,0 0 0,0 0 0,0 0 0,0 0 0,1 0 0,-1 0 0,0 0 0,-12-2 0,-20-1 0,-62 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30T11:50:08.2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0,'-1'0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5D752DE0-DE89-904D-E85E-52D4CA9A599F}"/>
              </a:ext>
            </a:extLst>
          </p:cNvPr>
          <p:cNvSpPr txBox="1"/>
          <p:nvPr/>
        </p:nvSpPr>
        <p:spPr>
          <a:xfrm>
            <a:off x="3762375" y="1343025"/>
            <a:ext cx="5676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  <a:latin typeface="+mj-lt"/>
              </a:rPr>
              <a:t>IMDB Movies SQL Analysis Project</a:t>
            </a:r>
            <a:endParaRPr lang="en-IN" sz="54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0B08FA-2A5A-3DF0-32BF-DAFD4124E38E}"/>
              </a:ext>
            </a:extLst>
          </p:cNvPr>
          <p:cNvSpPr txBox="1"/>
          <p:nvPr/>
        </p:nvSpPr>
        <p:spPr>
          <a:xfrm>
            <a:off x="3686175" y="3581400"/>
            <a:ext cx="56769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Presented by Manndeep Patel and Satyam Sharma</a:t>
            </a:r>
          </a:p>
          <a:p>
            <a:endParaRPr lang="en-US" sz="2800" dirty="0">
              <a:solidFill>
                <a:schemeClr val="accent2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Project Team ID: PTID-CDA-JAN-26-1165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Project ID: PRSQL-01</a:t>
            </a:r>
            <a:endParaRPr lang="en-IN" sz="2000" dirty="0">
              <a:solidFill>
                <a:schemeClr val="accent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34152A-C7B0-569C-8ACF-FBEA5CF069FE}"/>
              </a:ext>
            </a:extLst>
          </p:cNvPr>
          <p:cNvSpPr/>
          <p:nvPr/>
        </p:nvSpPr>
        <p:spPr>
          <a:xfrm>
            <a:off x="933450" y="6029325"/>
            <a:ext cx="9667875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D4B67C2-8137-6E9E-8851-FE8C3692F10B}"/>
              </a:ext>
            </a:extLst>
          </p:cNvPr>
          <p:cNvSpPr/>
          <p:nvPr/>
        </p:nvSpPr>
        <p:spPr>
          <a:xfrm>
            <a:off x="942975" y="6029325"/>
            <a:ext cx="1066800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Intro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55" y="30299"/>
            <a:ext cx="10418602" cy="859055"/>
          </a:xfrm>
          <a:noFill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Task Questions Covered (Checklist)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BD9AD-E0E2-E983-C102-B2FB94217FED}"/>
              </a:ext>
            </a:extLst>
          </p:cNvPr>
          <p:cNvSpPr txBox="1"/>
          <p:nvPr/>
        </p:nvSpPr>
        <p:spPr>
          <a:xfrm>
            <a:off x="2980830" y="889355"/>
            <a:ext cx="5625287" cy="507831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Covered in the slides: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Get all the data about movies.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Get all the data about directors.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Checked how many movies are present in IMDB.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Count total movies.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Find directors starting with ‘S’.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Find specific directors (James Cameron, Luc      Besson, John Woo).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Count female directors.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10th female director (ORDER BY + OFFSET).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Top 3 popular movies.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Top 3 bankable movies.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Highest-rated movie since Jan 1, 2000.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JOIN query (movies directed by Brenda Chapman).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 JOIN query (movies by director).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Most Bankable Director.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5245EE4-0638-F847-7383-AECDB9E07381}"/>
              </a:ext>
            </a:extLst>
          </p:cNvPr>
          <p:cNvSpPr/>
          <p:nvPr/>
        </p:nvSpPr>
        <p:spPr>
          <a:xfrm>
            <a:off x="914400" y="6025306"/>
            <a:ext cx="9515475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99FD87B-1177-1EF5-32E2-FAD5BDCA3E30}"/>
              </a:ext>
            </a:extLst>
          </p:cNvPr>
          <p:cNvSpPr/>
          <p:nvPr/>
        </p:nvSpPr>
        <p:spPr>
          <a:xfrm>
            <a:off x="1192932" y="6032500"/>
            <a:ext cx="1150217" cy="640506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checklist</a:t>
            </a:r>
            <a:endParaRPr lang="en-IN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3000">
        <p159:morph option="byObject"/>
      </p:transition>
    </mc:Choice>
    <mc:Fallback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4"/>
          </a:fgClr>
          <a:bgClr>
            <a:schemeClr val="accent5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6467"/>
            <a:ext cx="11214100" cy="535531"/>
          </a:xfrm>
        </p:spPr>
        <p:txBody>
          <a:bodyPr/>
          <a:lstStyle/>
          <a:p>
            <a:r>
              <a:rPr lang="en-US" dirty="0"/>
              <a:t>Task – 1: Get all the data from movies table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594" y="1177151"/>
            <a:ext cx="2289735" cy="490284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3414F1-BF16-CAD7-D064-11E691EFA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74" y="1534673"/>
            <a:ext cx="8948832" cy="438544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781F6-D2C5-7D69-5AE1-9812BBE6BFC2}"/>
              </a:ext>
            </a:extLst>
          </p:cNvPr>
          <p:cNvSpPr/>
          <p:nvPr/>
        </p:nvSpPr>
        <p:spPr>
          <a:xfrm>
            <a:off x="176118" y="1784058"/>
            <a:ext cx="2690907" cy="1968791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</a:rPr>
              <a:t>select * </a:t>
            </a:r>
          </a:p>
          <a:p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</a:rPr>
              <a:t>   from movies;</a:t>
            </a:r>
          </a:p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51CBA0E-72CC-5A0E-776B-4BC1129FEC1E}"/>
              </a:ext>
            </a:extLst>
          </p:cNvPr>
          <p:cNvSpPr/>
          <p:nvPr/>
        </p:nvSpPr>
        <p:spPr>
          <a:xfrm>
            <a:off x="914400" y="6032500"/>
            <a:ext cx="9534525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FA3B38-CC6D-EF8F-E8A5-191427947B2B}"/>
              </a:ext>
            </a:extLst>
          </p:cNvPr>
          <p:cNvSpPr/>
          <p:nvPr/>
        </p:nvSpPr>
        <p:spPr>
          <a:xfrm>
            <a:off x="1371599" y="6032500"/>
            <a:ext cx="1152525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-1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DF7BFC-30A3-C3C9-C1A0-A10C1AF6647A}"/>
              </a:ext>
            </a:extLst>
          </p:cNvPr>
          <p:cNvCxnSpPr/>
          <p:nvPr/>
        </p:nvCxnSpPr>
        <p:spPr>
          <a:xfrm>
            <a:off x="0" y="91199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91E076-8772-ABB2-B348-3B72F46FFFBB}"/>
              </a:ext>
            </a:extLst>
          </p:cNvPr>
          <p:cNvSpPr txBox="1"/>
          <p:nvPr/>
        </p:nvSpPr>
        <p:spPr>
          <a:xfrm>
            <a:off x="1" y="3865227"/>
            <a:ext cx="2524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Display complete information about the movies data set table.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514057"/>
            <a:ext cx="11214100" cy="535531"/>
          </a:xfrm>
        </p:spPr>
        <p:txBody>
          <a:bodyPr/>
          <a:lstStyle/>
          <a:p>
            <a:r>
              <a:rPr lang="en-US" dirty="0"/>
              <a:t>Task – 2: Get all the data from Directors Table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AB46A9-32D5-D437-8822-3E2C469C4231}"/>
              </a:ext>
            </a:extLst>
          </p:cNvPr>
          <p:cNvSpPr/>
          <p:nvPr/>
        </p:nvSpPr>
        <p:spPr>
          <a:xfrm>
            <a:off x="955675" y="6032500"/>
            <a:ext cx="9677400" cy="64769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8CAA67-79D7-AC7D-CD48-5DC1996740AF}"/>
              </a:ext>
            </a:extLst>
          </p:cNvPr>
          <p:cNvSpPr/>
          <p:nvPr/>
        </p:nvSpPr>
        <p:spPr>
          <a:xfrm>
            <a:off x="1558925" y="6032500"/>
            <a:ext cx="1136650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-2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053695-75F6-043C-9FF8-E181FE2D999D}"/>
              </a:ext>
            </a:extLst>
          </p:cNvPr>
          <p:cNvSpPr/>
          <p:nvPr/>
        </p:nvSpPr>
        <p:spPr>
          <a:xfrm>
            <a:off x="127000" y="2288882"/>
            <a:ext cx="2690907" cy="1968791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</a:rPr>
              <a:t>select * </a:t>
            </a:r>
          </a:p>
          <a:p>
            <a:r>
              <a:rPr lang="en-US" sz="2000" dirty="0">
                <a:solidFill>
                  <a:schemeClr val="bg1"/>
                </a:solidFill>
                <a:latin typeface="Tw Cen MT" panose="020B0602020104020603" pitchFamily="34" charset="0"/>
              </a:rPr>
              <a:t>   from directors;</a:t>
            </a:r>
          </a:p>
          <a:p>
            <a:pPr algn="ctr"/>
            <a:endParaRPr lang="en-IN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B0037BB-764E-5E28-7891-F439B2C28918}"/>
              </a:ext>
            </a:extLst>
          </p:cNvPr>
          <p:cNvSpPr txBox="1">
            <a:spLocks/>
          </p:cNvSpPr>
          <p:nvPr/>
        </p:nvSpPr>
        <p:spPr>
          <a:xfrm>
            <a:off x="127000" y="1424093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460221-8DBC-0EB6-F1C5-F5F30ED74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543049"/>
            <a:ext cx="7432860" cy="37719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735F74-B3B8-5325-041C-C812CBF89441}"/>
              </a:ext>
            </a:extLst>
          </p:cNvPr>
          <p:cNvSpPr txBox="1"/>
          <p:nvPr/>
        </p:nvSpPr>
        <p:spPr>
          <a:xfrm>
            <a:off x="171451" y="4375058"/>
            <a:ext cx="2524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Display all  information about the directors data set table.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31" y="590550"/>
            <a:ext cx="11214100" cy="535531"/>
          </a:xfrm>
        </p:spPr>
        <p:txBody>
          <a:bodyPr/>
          <a:lstStyle/>
          <a:p>
            <a:r>
              <a:rPr lang="en-US" dirty="0"/>
              <a:t>Task – 3: Total Movies Present in IMDB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74D891-D9F3-9B52-4178-7FD8798347F8}"/>
              </a:ext>
            </a:extLst>
          </p:cNvPr>
          <p:cNvSpPr/>
          <p:nvPr/>
        </p:nvSpPr>
        <p:spPr>
          <a:xfrm>
            <a:off x="911537" y="6032500"/>
            <a:ext cx="9651688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A552754-ED8B-1B0F-788E-AA278854C873}"/>
              </a:ext>
            </a:extLst>
          </p:cNvPr>
          <p:cNvSpPr/>
          <p:nvPr/>
        </p:nvSpPr>
        <p:spPr>
          <a:xfrm>
            <a:off x="2086458" y="6032499"/>
            <a:ext cx="1135772" cy="647701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-3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277C60C-64EA-2527-DE04-B38C5BAD7AFA}"/>
              </a:ext>
            </a:extLst>
          </p:cNvPr>
          <p:cNvSpPr/>
          <p:nvPr/>
        </p:nvSpPr>
        <p:spPr>
          <a:xfrm>
            <a:off x="130331" y="2444604"/>
            <a:ext cx="2690907" cy="1968791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count(original_title)as No_of_movies</a:t>
            </a:r>
          </a:p>
          <a:p>
            <a:r>
              <a:rPr lang="en-US" dirty="0">
                <a:latin typeface="Tw Cen MT" panose="020B0602020104020603" pitchFamily="34" charset="0"/>
              </a:rPr>
              <a:t>from movies;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E3F9DC13-C39D-97D1-4568-C853F1D0908C}"/>
              </a:ext>
            </a:extLst>
          </p:cNvPr>
          <p:cNvSpPr txBox="1">
            <a:spLocks/>
          </p:cNvSpPr>
          <p:nvPr/>
        </p:nvSpPr>
        <p:spPr>
          <a:xfrm>
            <a:off x="279400" y="1576493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BF89DD1-93D0-B6F4-4696-82DBCD7D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681" y="2285236"/>
            <a:ext cx="3998669" cy="228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96F2339-7662-4189-4096-382C57D48F29}"/>
                  </a:ext>
                </a:extLst>
              </p14:cNvPr>
              <p14:cNvContentPartPr/>
              <p14:nvPr/>
            </p14:nvContentPartPr>
            <p14:xfrm>
              <a:off x="7807335" y="3779100"/>
              <a:ext cx="426240" cy="126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96F2339-7662-4189-4096-382C57D48F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01215" y="3772980"/>
                <a:ext cx="4384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FD15F0C-59E9-4C91-8C9C-5D56D7409658}"/>
                  </a:ext>
                </a:extLst>
              </p14:cNvPr>
              <p14:cNvContentPartPr/>
              <p14:nvPr/>
            </p14:nvContentPartPr>
            <p14:xfrm>
              <a:off x="7796175" y="3717540"/>
              <a:ext cx="979920" cy="228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FD15F0C-59E9-4C91-8C9C-5D56D74096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33175" y="3654900"/>
                <a:ext cx="11055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A2ED09C-4F6C-0C4F-2ED5-CAA680F7EFAE}"/>
                  </a:ext>
                </a:extLst>
              </p14:cNvPr>
              <p14:cNvContentPartPr/>
              <p14:nvPr/>
            </p14:nvContentPartPr>
            <p14:xfrm>
              <a:off x="10210695" y="3838500"/>
              <a:ext cx="712440" cy="134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A2ED09C-4F6C-0C4F-2ED5-CAA680F7EF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48055" y="3775500"/>
                <a:ext cx="8380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822B699-0F4C-B728-409E-DCCD9A9E20F3}"/>
                  </a:ext>
                </a:extLst>
              </p14:cNvPr>
              <p14:cNvContentPartPr/>
              <p14:nvPr/>
            </p14:nvContentPartPr>
            <p14:xfrm>
              <a:off x="2895495" y="-276300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822B699-0F4C-B728-409E-DCCD9A9E20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77495" y="-312300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B24792B-E3F8-9E92-926F-01065D733DD4}"/>
              </a:ext>
            </a:extLst>
          </p:cNvPr>
          <p:cNvSpPr/>
          <p:nvPr/>
        </p:nvSpPr>
        <p:spPr>
          <a:xfrm>
            <a:off x="7686675" y="3428999"/>
            <a:ext cx="3419475" cy="1143764"/>
          </a:xfrm>
          <a:prstGeom prst="roundRect">
            <a:avLst/>
          </a:prstGeom>
          <a:solidFill>
            <a:srgbClr val="1033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53CE0-2398-6CAD-04CC-2BE39B2D9CEA}"/>
              </a:ext>
            </a:extLst>
          </p:cNvPr>
          <p:cNvSpPr txBox="1"/>
          <p:nvPr/>
        </p:nvSpPr>
        <p:spPr>
          <a:xfrm>
            <a:off x="7937257" y="2257803"/>
            <a:ext cx="2985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Counts total number of movies in the data set from movies data set.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Task – 4: </a:t>
            </a:r>
            <a:r>
              <a:rPr lang="en-US" sz="2800" dirty="0"/>
              <a:t>Find Directors: James Cameron, Luc Besson, John Woo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D0AFFF-3243-A982-A9B5-75D71DAE1C60}"/>
              </a:ext>
            </a:extLst>
          </p:cNvPr>
          <p:cNvSpPr/>
          <p:nvPr/>
        </p:nvSpPr>
        <p:spPr>
          <a:xfrm>
            <a:off x="965199" y="6032500"/>
            <a:ext cx="9550402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E6FECD-5C43-7130-4FBE-CE2C6686372D}"/>
              </a:ext>
            </a:extLst>
          </p:cNvPr>
          <p:cNvSpPr/>
          <p:nvPr/>
        </p:nvSpPr>
        <p:spPr>
          <a:xfrm>
            <a:off x="2761591" y="6032500"/>
            <a:ext cx="1153183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-4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13370C1-A9E4-3FDC-DF4C-8F310049FA9A}"/>
              </a:ext>
            </a:extLst>
          </p:cNvPr>
          <p:cNvSpPr/>
          <p:nvPr/>
        </p:nvSpPr>
        <p:spPr>
          <a:xfrm>
            <a:off x="282731" y="2597004"/>
            <a:ext cx="2612869" cy="235093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name, id</a:t>
            </a:r>
          </a:p>
          <a:p>
            <a:r>
              <a:rPr lang="en-US" dirty="0">
                <a:latin typeface="Tw Cen MT" panose="020B0602020104020603" pitchFamily="34" charset="0"/>
              </a:rPr>
              <a:t> from directors</a:t>
            </a:r>
          </a:p>
          <a:p>
            <a:r>
              <a:rPr lang="en-US" dirty="0">
                <a:latin typeface="Tw Cen MT" panose="020B0602020104020603" pitchFamily="34" charset="0"/>
              </a:rPr>
              <a:t> where name in ("James Cameron", "Luc Besson", "John Woo");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38BF25C-3AFB-97CE-1BEF-654226A3D3C5}"/>
              </a:ext>
            </a:extLst>
          </p:cNvPr>
          <p:cNvSpPr txBox="1">
            <a:spLocks/>
          </p:cNvSpPr>
          <p:nvPr/>
        </p:nvSpPr>
        <p:spPr>
          <a:xfrm>
            <a:off x="431800" y="1728893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B1B51E-42F7-8603-7A94-E96DAC9A5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82" y="2163016"/>
            <a:ext cx="3916767" cy="2784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C51A20-14ED-3B60-3C5C-CAB2CC3489A5}"/>
              </a:ext>
            </a:extLst>
          </p:cNvPr>
          <p:cNvSpPr txBox="1"/>
          <p:nvPr/>
        </p:nvSpPr>
        <p:spPr>
          <a:xfrm>
            <a:off x="8089657" y="2410203"/>
            <a:ext cx="2985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Display of 3 directors names are James Cameron, Luc Besson, John woo from directors data set.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5: Find Directors name starting with “S”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2218CC-096C-C4F0-45B1-E0B03FE72310}"/>
              </a:ext>
            </a:extLst>
          </p:cNvPr>
          <p:cNvSpPr/>
          <p:nvPr/>
        </p:nvSpPr>
        <p:spPr>
          <a:xfrm>
            <a:off x="923925" y="6032500"/>
            <a:ext cx="9486900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F8E870-B65E-B611-F14F-85A9719A9052}"/>
              </a:ext>
            </a:extLst>
          </p:cNvPr>
          <p:cNvSpPr/>
          <p:nvPr/>
        </p:nvSpPr>
        <p:spPr>
          <a:xfrm>
            <a:off x="3371192" y="6032500"/>
            <a:ext cx="1143658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-5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30BD7A-C06F-31EE-87C4-0E469A5BF295}"/>
              </a:ext>
            </a:extLst>
          </p:cNvPr>
          <p:cNvSpPr/>
          <p:nvPr/>
        </p:nvSpPr>
        <p:spPr>
          <a:xfrm>
            <a:off x="435131" y="2749404"/>
            <a:ext cx="2612869" cy="235093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2000" dirty="0">
                <a:latin typeface="Tw Cen MT" panose="020B0602020104020603" pitchFamily="34" charset="0"/>
              </a:rPr>
              <a:t>select name</a:t>
            </a:r>
          </a:p>
          <a:p>
            <a:r>
              <a:rPr lang="en-US" sz="2000" dirty="0">
                <a:latin typeface="Tw Cen MT" panose="020B0602020104020603" pitchFamily="34" charset="0"/>
              </a:rPr>
              <a:t>  from directors</a:t>
            </a:r>
          </a:p>
          <a:p>
            <a:r>
              <a:rPr lang="en-US" sz="2000" dirty="0">
                <a:latin typeface="Tw Cen MT" panose="020B0602020104020603" pitchFamily="34" charset="0"/>
              </a:rPr>
              <a:t>  where name Like</a:t>
            </a:r>
          </a:p>
          <a:p>
            <a:r>
              <a:rPr lang="en-US" sz="2000" dirty="0">
                <a:latin typeface="Tw Cen MT" panose="020B0602020104020603" pitchFamily="34" charset="0"/>
              </a:rPr>
              <a:t>  "S%";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C541541B-3586-4D70-E31F-135F10BD3C2F}"/>
              </a:ext>
            </a:extLst>
          </p:cNvPr>
          <p:cNvSpPr txBox="1">
            <a:spLocks/>
          </p:cNvSpPr>
          <p:nvPr/>
        </p:nvSpPr>
        <p:spPr>
          <a:xfrm>
            <a:off x="431800" y="1728893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1CC538-2470-371B-44E9-2AE7F0D5C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693" y="1448108"/>
            <a:ext cx="3361407" cy="42419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DA23E8-958C-B806-92BE-80087ED82F55}"/>
              </a:ext>
            </a:extLst>
          </p:cNvPr>
          <p:cNvSpPr txBox="1"/>
          <p:nvPr/>
        </p:nvSpPr>
        <p:spPr>
          <a:xfrm>
            <a:off x="7866528" y="2219177"/>
            <a:ext cx="3115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The Data of the directors whose name starting with “S” from directors data set.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6: Count female Directors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871589-7C63-E0C5-BB17-D7B6361A1F71}"/>
              </a:ext>
            </a:extLst>
          </p:cNvPr>
          <p:cNvSpPr/>
          <p:nvPr/>
        </p:nvSpPr>
        <p:spPr>
          <a:xfrm>
            <a:off x="949327" y="6032500"/>
            <a:ext cx="9432924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E3F216-6AEF-BA89-0E97-083A47250B54}"/>
              </a:ext>
            </a:extLst>
          </p:cNvPr>
          <p:cNvSpPr/>
          <p:nvPr/>
        </p:nvSpPr>
        <p:spPr>
          <a:xfrm>
            <a:off x="4104617" y="6032500"/>
            <a:ext cx="1086508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-6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ED0872-07DD-E7ED-0C13-117891920871}"/>
              </a:ext>
            </a:extLst>
          </p:cNvPr>
          <p:cNvSpPr/>
          <p:nvPr/>
        </p:nvSpPr>
        <p:spPr>
          <a:xfrm>
            <a:off x="444500" y="2521297"/>
            <a:ext cx="2612869" cy="235093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gender, count(gender)as female_directors</a:t>
            </a:r>
          </a:p>
          <a:p>
            <a:r>
              <a:rPr lang="en-US" dirty="0">
                <a:latin typeface="Tw Cen MT" panose="020B0602020104020603" pitchFamily="34" charset="0"/>
              </a:rPr>
              <a:t>from directors</a:t>
            </a:r>
          </a:p>
          <a:p>
            <a:r>
              <a:rPr lang="en-US" dirty="0">
                <a:latin typeface="Tw Cen MT" panose="020B0602020104020603" pitchFamily="34" charset="0"/>
              </a:rPr>
              <a:t>where gender="1";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4A26303-181F-2A98-D813-BCE2986D9A72}"/>
              </a:ext>
            </a:extLst>
          </p:cNvPr>
          <p:cNvSpPr txBox="1">
            <a:spLocks/>
          </p:cNvSpPr>
          <p:nvPr/>
        </p:nvSpPr>
        <p:spPr>
          <a:xfrm>
            <a:off x="444500" y="1705812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107EE1-1A3A-B286-0601-6A1F5AA4A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36" y="2980157"/>
            <a:ext cx="3552906" cy="1150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F30F61-8DD1-A48E-0086-A8B9657AC99E}"/>
              </a:ext>
            </a:extLst>
          </p:cNvPr>
          <p:cNvSpPr txBox="1"/>
          <p:nvPr/>
        </p:nvSpPr>
        <p:spPr>
          <a:xfrm>
            <a:off x="8009403" y="2521297"/>
            <a:ext cx="3115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Count of only Female directors from directors data set.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7: Find Name of 10</a:t>
            </a:r>
            <a:r>
              <a:rPr lang="en-US" baseline="30000" dirty="0"/>
              <a:t>th</a:t>
            </a:r>
            <a:r>
              <a:rPr lang="en-US" dirty="0"/>
              <a:t> first women director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93E4BE-EB59-9298-0E70-9C981A1861F1}"/>
              </a:ext>
            </a:extLst>
          </p:cNvPr>
          <p:cNvSpPr/>
          <p:nvPr/>
        </p:nvSpPr>
        <p:spPr>
          <a:xfrm>
            <a:off x="930275" y="6032500"/>
            <a:ext cx="9432925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6F0729-F354-5559-D4E0-C74769A21855}"/>
              </a:ext>
            </a:extLst>
          </p:cNvPr>
          <p:cNvSpPr/>
          <p:nvPr/>
        </p:nvSpPr>
        <p:spPr>
          <a:xfrm>
            <a:off x="4806292" y="6032500"/>
            <a:ext cx="1076983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-7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361AA0-0C1A-E11C-2E6A-B63AA032CF01}"/>
              </a:ext>
            </a:extLst>
          </p:cNvPr>
          <p:cNvSpPr/>
          <p:nvPr/>
        </p:nvSpPr>
        <p:spPr>
          <a:xfrm>
            <a:off x="444500" y="2673696"/>
            <a:ext cx="2612869" cy="235093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gender , name        </a:t>
            </a:r>
          </a:p>
          <a:p>
            <a:r>
              <a:rPr lang="en-US" dirty="0">
                <a:latin typeface="Tw Cen MT" panose="020B0602020104020603" pitchFamily="34" charset="0"/>
              </a:rPr>
              <a:t>  as female_directors</a:t>
            </a:r>
          </a:p>
          <a:p>
            <a:r>
              <a:rPr lang="en-US" dirty="0">
                <a:latin typeface="Tw Cen MT" panose="020B0602020104020603" pitchFamily="34" charset="0"/>
              </a:rPr>
              <a:t>  from directors</a:t>
            </a:r>
          </a:p>
          <a:p>
            <a:r>
              <a:rPr lang="en-US" dirty="0">
                <a:latin typeface="Tw Cen MT" panose="020B0602020104020603" pitchFamily="34" charset="0"/>
              </a:rPr>
              <a:t> Where gender=‘1’       </a:t>
            </a:r>
          </a:p>
          <a:p>
            <a:r>
              <a:rPr lang="en-US" dirty="0">
                <a:latin typeface="Tw Cen MT" panose="020B0602020104020603" pitchFamily="34" charset="0"/>
              </a:rPr>
              <a:t> order by  </a:t>
            </a:r>
          </a:p>
          <a:p>
            <a:r>
              <a:rPr lang="en-US" dirty="0">
                <a:latin typeface="Tw Cen MT" panose="020B0602020104020603" pitchFamily="34" charset="0"/>
              </a:rPr>
              <a:t> name       </a:t>
            </a:r>
          </a:p>
          <a:p>
            <a:r>
              <a:rPr lang="en-US" dirty="0">
                <a:latin typeface="Tw Cen MT" panose="020B0602020104020603" pitchFamily="34" charset="0"/>
              </a:rPr>
              <a:t> Limit 1 offset 9;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352D7D9-1E5A-F453-F8EB-01330F1632E4}"/>
              </a:ext>
            </a:extLst>
          </p:cNvPr>
          <p:cNvSpPr txBox="1">
            <a:spLocks/>
          </p:cNvSpPr>
          <p:nvPr/>
        </p:nvSpPr>
        <p:spPr>
          <a:xfrm>
            <a:off x="444500" y="1630934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54353-3A6E-5A31-ABC2-C1635C62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3030822"/>
            <a:ext cx="3238500" cy="1655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554285-F97A-8A30-3FCA-DE566535C7C3}"/>
              </a:ext>
            </a:extLst>
          </p:cNvPr>
          <p:cNvSpPr txBox="1"/>
          <p:nvPr/>
        </p:nvSpPr>
        <p:spPr>
          <a:xfrm>
            <a:off x="8161803" y="2673697"/>
            <a:ext cx="3115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The Data showing the 10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first female director after sorting and ordering the data from directors data set.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71215-59BE-C106-7C01-9C3BA131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8B63FB-DE28-8924-77A7-F8052EC7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8: Three Most Popular Movies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B9A962-2A2F-66AD-C20C-2A35EA80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45796F-4788-F015-E4A8-AA82859311A6}"/>
              </a:ext>
            </a:extLst>
          </p:cNvPr>
          <p:cNvSpPr/>
          <p:nvPr/>
        </p:nvSpPr>
        <p:spPr>
          <a:xfrm>
            <a:off x="930275" y="6032500"/>
            <a:ext cx="9442450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996AE8-B63D-8A8F-D2D1-ABBAF757B075}"/>
              </a:ext>
            </a:extLst>
          </p:cNvPr>
          <p:cNvSpPr/>
          <p:nvPr/>
        </p:nvSpPr>
        <p:spPr>
          <a:xfrm>
            <a:off x="5231742" y="6032500"/>
            <a:ext cx="1086508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-8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1F3EB34-F539-DECF-E207-31129CF3D778}"/>
              </a:ext>
            </a:extLst>
          </p:cNvPr>
          <p:cNvSpPr txBox="1">
            <a:spLocks/>
          </p:cNvSpPr>
          <p:nvPr/>
        </p:nvSpPr>
        <p:spPr>
          <a:xfrm>
            <a:off x="444500" y="1701099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4893D3-4E40-46F6-4D95-44963A55AAAD}"/>
              </a:ext>
            </a:extLst>
          </p:cNvPr>
          <p:cNvSpPr/>
          <p:nvPr/>
        </p:nvSpPr>
        <p:spPr>
          <a:xfrm>
            <a:off x="444500" y="2672492"/>
            <a:ext cx="2612869" cy="235093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 original_title, vote_count, popularity from movies</a:t>
            </a:r>
          </a:p>
          <a:p>
            <a:r>
              <a:rPr lang="en-US" dirty="0">
                <a:latin typeface="Tw Cen MT" panose="020B0602020104020603" pitchFamily="34" charset="0"/>
              </a:rPr>
              <a:t>order by vote_count DESC, popularity DESC limit 3;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F2EC2-7FA9-5C3A-F357-DA78E26E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523" y="2931741"/>
            <a:ext cx="4304953" cy="16508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A803EB-FDD7-6AE3-003E-97FAB82E41D3}"/>
              </a:ext>
            </a:extLst>
          </p:cNvPr>
          <p:cNvSpPr txBox="1"/>
          <p:nvPr/>
        </p:nvSpPr>
        <p:spPr>
          <a:xfrm>
            <a:off x="8631703" y="2814026"/>
            <a:ext cx="3115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Display of the most popular movies according to popularity and vote count from movies data set.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093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6BA1-276A-29F4-CC75-A339A097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FEE076-176B-E933-7F49-9FB838CB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9: 3 Most Bankable Movies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A4A11-85FC-1B62-A872-7BB5DB0B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4394B6-FA60-D89F-F6FD-0E524A365A70}"/>
              </a:ext>
            </a:extLst>
          </p:cNvPr>
          <p:cNvSpPr/>
          <p:nvPr/>
        </p:nvSpPr>
        <p:spPr>
          <a:xfrm>
            <a:off x="930275" y="6032500"/>
            <a:ext cx="9423400" cy="64603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69A6E4-F2FC-A319-A854-C09DF60BA389}"/>
              </a:ext>
            </a:extLst>
          </p:cNvPr>
          <p:cNvSpPr/>
          <p:nvPr/>
        </p:nvSpPr>
        <p:spPr>
          <a:xfrm>
            <a:off x="5883275" y="6030836"/>
            <a:ext cx="1086508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-9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EF1EA15-1E7E-4543-6DF3-ED0FD82FF081}"/>
              </a:ext>
            </a:extLst>
          </p:cNvPr>
          <p:cNvSpPr txBox="1">
            <a:spLocks/>
          </p:cNvSpPr>
          <p:nvPr/>
        </p:nvSpPr>
        <p:spPr>
          <a:xfrm>
            <a:off x="441325" y="1712837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647766-8641-CC46-9897-738B27C4F2DD}"/>
              </a:ext>
            </a:extLst>
          </p:cNvPr>
          <p:cNvSpPr/>
          <p:nvPr/>
        </p:nvSpPr>
        <p:spPr>
          <a:xfrm>
            <a:off x="441325" y="2556899"/>
            <a:ext cx="2612869" cy="2350936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</a:t>
            </a:r>
            <a:r>
              <a:rPr lang="en-US" dirty="0" err="1">
                <a:latin typeface="Tw Cen MT" panose="020B0602020104020603" pitchFamily="34" charset="0"/>
              </a:rPr>
              <a:t>original_title,Budget</a:t>
            </a:r>
            <a:r>
              <a:rPr lang="en-US" dirty="0">
                <a:latin typeface="Tw Cen MT" panose="020B0602020104020603" pitchFamily="34" charset="0"/>
              </a:rPr>
              <a:t>,</a:t>
            </a:r>
          </a:p>
          <a:p>
            <a:r>
              <a:rPr lang="en-US" dirty="0">
                <a:latin typeface="Tw Cen MT" panose="020B0602020104020603" pitchFamily="34" charset="0"/>
              </a:rPr>
              <a:t>revenue,Revenue-Budget as Profit </a:t>
            </a:r>
          </a:p>
          <a:p>
            <a:r>
              <a:rPr lang="en-US" dirty="0">
                <a:latin typeface="Tw Cen MT" panose="020B0602020104020603" pitchFamily="34" charset="0"/>
              </a:rPr>
              <a:t>from movies</a:t>
            </a:r>
          </a:p>
          <a:p>
            <a:r>
              <a:rPr lang="en-US" dirty="0">
                <a:latin typeface="Tw Cen MT" panose="020B0602020104020603" pitchFamily="34" charset="0"/>
              </a:rPr>
              <a:t>order by revenue DESC</a:t>
            </a:r>
          </a:p>
          <a:p>
            <a:r>
              <a:rPr lang="en-US" dirty="0">
                <a:latin typeface="Tw Cen MT" panose="020B0602020104020603" pitchFamily="34" charset="0"/>
              </a:rPr>
              <a:t>limit 3;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980675-95B3-E4CC-1EB9-A6160C2B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249" y="2615034"/>
            <a:ext cx="4558701" cy="15283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38985A-DABB-1D1F-7EB2-2B7CB3BF349E}"/>
              </a:ext>
            </a:extLst>
          </p:cNvPr>
          <p:cNvSpPr txBox="1"/>
          <p:nvPr/>
        </p:nvSpPr>
        <p:spPr>
          <a:xfrm>
            <a:off x="8422153" y="2556899"/>
            <a:ext cx="31157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Display of most earned revenue means bankable in terms of movie industry with profit showing after deducting budget from revenue from movies data set.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81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CD116-4710-9B3B-9280-D25D18C2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0103A6-6841-D74B-F0D0-95DB85C9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62242"/>
            <a:ext cx="11214100" cy="978729"/>
          </a:xfrm>
        </p:spPr>
        <p:txBody>
          <a:bodyPr/>
          <a:lstStyle/>
          <a:p>
            <a:r>
              <a:rPr lang="en-US" dirty="0"/>
              <a:t>Task – 10: Most Awarded Average Vote since January 1</a:t>
            </a:r>
            <a:r>
              <a:rPr lang="en-US" baseline="30000" dirty="0"/>
              <a:t>st</a:t>
            </a:r>
            <a:r>
              <a:rPr lang="en-US" dirty="0"/>
              <a:t> 2000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148C4C-E4B9-355D-3913-E752172E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9FAE28-AC7F-F01B-B033-6081F9FB907B}"/>
              </a:ext>
            </a:extLst>
          </p:cNvPr>
          <p:cNvSpPr/>
          <p:nvPr/>
        </p:nvSpPr>
        <p:spPr>
          <a:xfrm>
            <a:off x="930275" y="6032500"/>
            <a:ext cx="9385300" cy="64129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FEAC24-8CA7-4A90-F5AF-FD2A6947DCE3}"/>
              </a:ext>
            </a:extLst>
          </p:cNvPr>
          <p:cNvSpPr/>
          <p:nvPr/>
        </p:nvSpPr>
        <p:spPr>
          <a:xfrm>
            <a:off x="6591299" y="6010173"/>
            <a:ext cx="1057275" cy="663626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-10</a:t>
            </a:r>
            <a:endParaRPr lang="en-IN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E08A90-A057-C617-F2BB-AF13EEE00904}"/>
              </a:ext>
            </a:extLst>
          </p:cNvPr>
          <p:cNvSpPr txBox="1">
            <a:spLocks/>
          </p:cNvSpPr>
          <p:nvPr/>
        </p:nvSpPr>
        <p:spPr>
          <a:xfrm>
            <a:off x="444500" y="1743733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044829-5F15-8A14-920A-69DA02BDEE19}"/>
              </a:ext>
            </a:extLst>
          </p:cNvPr>
          <p:cNvSpPr/>
          <p:nvPr/>
        </p:nvSpPr>
        <p:spPr>
          <a:xfrm>
            <a:off x="444500" y="2375647"/>
            <a:ext cx="2994616" cy="2863807"/>
          </a:xfrm>
          <a:prstGeom prst="roundRect">
            <a:avLst>
              <a:gd name="adj" fmla="val 17430"/>
            </a:avLst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</a:t>
            </a:r>
            <a:r>
              <a:rPr lang="en-US" dirty="0" err="1">
                <a:latin typeface="Tw Cen MT" panose="020B0602020104020603" pitchFamily="34" charset="0"/>
              </a:rPr>
              <a:t>original_title</a:t>
            </a:r>
            <a:r>
              <a:rPr lang="en-US" dirty="0">
                <a:latin typeface="Tw Cen MT" panose="020B0602020104020603" pitchFamily="34" charset="0"/>
              </a:rPr>
              <a:t>, </a:t>
            </a:r>
            <a:r>
              <a:rPr lang="en-US" dirty="0" err="1">
                <a:latin typeface="Tw Cen MT" panose="020B0602020104020603" pitchFamily="34" charset="0"/>
              </a:rPr>
              <a:t>vote_average</a:t>
            </a:r>
            <a:endParaRPr lang="en-US" dirty="0">
              <a:latin typeface="Tw Cen MT" panose="020B0602020104020603" pitchFamily="34" charset="0"/>
            </a:endParaRPr>
          </a:p>
          <a:p>
            <a:r>
              <a:rPr lang="en-US" dirty="0">
                <a:latin typeface="Tw Cen MT" panose="020B0602020104020603" pitchFamily="34" charset="0"/>
              </a:rPr>
              <a:t>from movies</a:t>
            </a:r>
          </a:p>
          <a:p>
            <a:r>
              <a:rPr lang="en-US" dirty="0">
                <a:latin typeface="Tw Cen MT" panose="020B0602020104020603" pitchFamily="34" charset="0"/>
              </a:rPr>
              <a:t>where release_date &gt;='2000-01-01’</a:t>
            </a:r>
          </a:p>
          <a:p>
            <a:r>
              <a:rPr lang="en-US" dirty="0">
                <a:latin typeface="Tw Cen MT" panose="020B0602020104020603" pitchFamily="34" charset="0"/>
              </a:rPr>
              <a:t>order by vote_average DESC</a:t>
            </a:r>
          </a:p>
          <a:p>
            <a:r>
              <a:rPr lang="en-US" dirty="0">
                <a:latin typeface="Tw Cen MT" panose="020B0602020104020603" pitchFamily="34" charset="0"/>
              </a:rPr>
              <a:t>limit 1;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F7282-8349-5B29-8075-6BC45F39D7EB}"/>
              </a:ext>
            </a:extLst>
          </p:cNvPr>
          <p:cNvSpPr txBox="1"/>
          <p:nvPr/>
        </p:nvSpPr>
        <p:spPr>
          <a:xfrm>
            <a:off x="8574553" y="2709299"/>
            <a:ext cx="3115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Display of most awarded average vote since January 1</a:t>
            </a:r>
            <a:r>
              <a:rPr lang="en-US" baseline="30000" dirty="0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 2000 from movies data set.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E2E425-BD43-DB45-A28C-C0A38279C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448" y="2709299"/>
            <a:ext cx="4394769" cy="110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4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AD93-1AA8-A06B-FDEF-D5DDE0A9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0E7127-4BC6-72F8-4A30-E447BBF0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11: Movies Directed by Brenda Chapman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F4F767-F6C3-3B2A-64F2-4F1FF29B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3ACD00-6D42-0637-3570-75F07B7D0B78}"/>
              </a:ext>
            </a:extLst>
          </p:cNvPr>
          <p:cNvSpPr/>
          <p:nvPr/>
        </p:nvSpPr>
        <p:spPr>
          <a:xfrm>
            <a:off x="930275" y="6032500"/>
            <a:ext cx="9394825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AF9DB7-865C-3814-1802-C3FB2357AB0B}"/>
              </a:ext>
            </a:extLst>
          </p:cNvPr>
          <p:cNvSpPr/>
          <p:nvPr/>
        </p:nvSpPr>
        <p:spPr>
          <a:xfrm>
            <a:off x="7314541" y="6032500"/>
            <a:ext cx="1124609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-11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4DFD410-4DBF-E472-2903-01CF5AA9758A}"/>
              </a:ext>
            </a:extLst>
          </p:cNvPr>
          <p:cNvSpPr txBox="1">
            <a:spLocks/>
          </p:cNvSpPr>
          <p:nvPr/>
        </p:nvSpPr>
        <p:spPr>
          <a:xfrm>
            <a:off x="444500" y="1663052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A50AE7-4E9A-11ED-DAC4-3D1C9ED47B06}"/>
              </a:ext>
            </a:extLst>
          </p:cNvPr>
          <p:cNvSpPr/>
          <p:nvPr/>
        </p:nvSpPr>
        <p:spPr>
          <a:xfrm>
            <a:off x="444500" y="2496832"/>
            <a:ext cx="2612869" cy="2590222"/>
          </a:xfrm>
          <a:prstGeom prst="roundRect">
            <a:avLst>
              <a:gd name="adj" fmla="val 17430"/>
            </a:avLst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distinct </a:t>
            </a:r>
            <a:r>
              <a:rPr lang="en-US" dirty="0" err="1">
                <a:latin typeface="Tw Cen MT" panose="020B0602020104020603" pitchFamily="34" charset="0"/>
              </a:rPr>
              <a:t>m.original_title</a:t>
            </a:r>
            <a:r>
              <a:rPr lang="en-US" dirty="0">
                <a:latin typeface="Tw Cen MT" panose="020B0602020104020603" pitchFamily="34" charset="0"/>
              </a:rPr>
              <a:t> as </a:t>
            </a:r>
            <a:r>
              <a:rPr lang="en-US" dirty="0" err="1">
                <a:latin typeface="Tw Cen MT" panose="020B0602020104020603" pitchFamily="34" charset="0"/>
              </a:rPr>
              <a:t>By_Brenda_Chapman</a:t>
            </a:r>
            <a:endParaRPr lang="en-US" dirty="0">
              <a:latin typeface="Tw Cen MT" panose="020B0602020104020603" pitchFamily="34" charset="0"/>
            </a:endParaRPr>
          </a:p>
          <a:p>
            <a:r>
              <a:rPr lang="en-US" dirty="0">
                <a:latin typeface="Tw Cen MT" panose="020B0602020104020603" pitchFamily="34" charset="0"/>
              </a:rPr>
              <a:t>from movies m join directors d on m.director_id=d.id</a:t>
            </a:r>
          </a:p>
          <a:p>
            <a:r>
              <a:rPr lang="en-US" dirty="0">
                <a:latin typeface="Tw Cen MT" panose="020B0602020104020603" pitchFamily="34" charset="0"/>
              </a:rPr>
              <a:t>where d.name = "Brenda Chapman";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860C3D-FF60-6C52-C44A-CE5C0EB9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729" y="2496831"/>
            <a:ext cx="3515812" cy="2226681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74A4D5B8-09A6-F503-DA0A-A46D7B1A5F29}"/>
              </a:ext>
            </a:extLst>
          </p:cNvPr>
          <p:cNvSpPr/>
          <p:nvPr/>
        </p:nvSpPr>
        <p:spPr>
          <a:xfrm>
            <a:off x="8579222" y="1848606"/>
            <a:ext cx="2402541" cy="352313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Note: The Query hasn’t returned any query because the movie table has no data regarding the Brenda Chapman movies.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29406-46DD-31D7-6249-B1608145E5CF}"/>
              </a:ext>
            </a:extLst>
          </p:cNvPr>
          <p:cNvSpPr txBox="1"/>
          <p:nvPr/>
        </p:nvSpPr>
        <p:spPr>
          <a:xfrm>
            <a:off x="3798729" y="4778788"/>
            <a:ext cx="3857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Join query performed to get the movies directed by the Brenda Chapman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97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3D6F4-AF76-1BBD-30A7-AA4D05D06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1EBF5B-2FD8-BD89-B504-AD219965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12: Director Made the most Movies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06ECD2-6F2E-6DA9-D574-AC92218C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3C82A4-EEF9-A3F0-E280-549557A7F1CB}"/>
              </a:ext>
            </a:extLst>
          </p:cNvPr>
          <p:cNvSpPr/>
          <p:nvPr/>
        </p:nvSpPr>
        <p:spPr>
          <a:xfrm>
            <a:off x="930275" y="6032500"/>
            <a:ext cx="9356725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D1E80A-F257-EF39-AAC4-63E31F09CF1E}"/>
              </a:ext>
            </a:extLst>
          </p:cNvPr>
          <p:cNvSpPr/>
          <p:nvPr/>
        </p:nvSpPr>
        <p:spPr>
          <a:xfrm>
            <a:off x="8156574" y="6032500"/>
            <a:ext cx="1038883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-12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5EFE2-1660-776B-1C98-4F43ABD90B10}"/>
              </a:ext>
            </a:extLst>
          </p:cNvPr>
          <p:cNvSpPr txBox="1">
            <a:spLocks/>
          </p:cNvSpPr>
          <p:nvPr/>
        </p:nvSpPr>
        <p:spPr>
          <a:xfrm>
            <a:off x="444500" y="1824977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5EFFDE-E25F-77B2-E3D8-6A5E08A631D4}"/>
              </a:ext>
            </a:extLst>
          </p:cNvPr>
          <p:cNvSpPr/>
          <p:nvPr/>
        </p:nvSpPr>
        <p:spPr>
          <a:xfrm>
            <a:off x="314326" y="2391461"/>
            <a:ext cx="2800350" cy="3152089"/>
          </a:xfrm>
          <a:prstGeom prst="roundRect">
            <a:avLst>
              <a:gd name="adj" fmla="val 17430"/>
            </a:avLst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d.name, COUNT(*) AS Total_movies</a:t>
            </a:r>
          </a:p>
          <a:p>
            <a:r>
              <a:rPr lang="en-US" dirty="0">
                <a:latin typeface="Tw Cen MT" panose="020B0602020104020603" pitchFamily="34" charset="0"/>
              </a:rPr>
              <a:t>FROM directors d</a:t>
            </a:r>
          </a:p>
          <a:p>
            <a:r>
              <a:rPr lang="en-US" dirty="0">
                <a:latin typeface="Tw Cen MT" panose="020B0602020104020603" pitchFamily="34" charset="0"/>
              </a:rPr>
              <a:t>JOIN movies m ON d.id = m.director_id</a:t>
            </a:r>
          </a:p>
          <a:p>
            <a:r>
              <a:rPr lang="en-US" dirty="0">
                <a:latin typeface="Tw Cen MT" panose="020B0602020104020603" pitchFamily="34" charset="0"/>
              </a:rPr>
              <a:t>GROUP BY d.name</a:t>
            </a:r>
          </a:p>
          <a:p>
            <a:r>
              <a:rPr lang="en-US" dirty="0">
                <a:latin typeface="Tw Cen MT" panose="020B0602020104020603" pitchFamily="34" charset="0"/>
              </a:rPr>
              <a:t>ORDER BY Total_movies DESC</a:t>
            </a:r>
          </a:p>
          <a:p>
            <a:r>
              <a:rPr lang="en-US" dirty="0">
                <a:latin typeface="Tw Cen MT" panose="020B0602020104020603" pitchFamily="34" charset="0"/>
              </a:rPr>
              <a:t>LIMIT 1;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FDF78-B7CC-34EB-4BA5-44B19EE2E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015" y="2391461"/>
            <a:ext cx="4404460" cy="23851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6C0A47-BA15-ED20-C9A0-623469DA66B3}"/>
              </a:ext>
            </a:extLst>
          </p:cNvPr>
          <p:cNvSpPr txBox="1"/>
          <p:nvPr/>
        </p:nvSpPr>
        <p:spPr>
          <a:xfrm>
            <a:off x="8676015" y="2391461"/>
            <a:ext cx="3857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Join query performed to derive the data of which director made the most movies.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822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C614-4290-F2E2-7D77-C0A54DD5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CB8C8F-F7BD-D8D7-261C-ABE7AFBE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– 13: Most Bankable Director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97260-0386-D4CE-1DB1-72272D3B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6ED787-DFD9-7876-A40C-2C81061A1211}"/>
              </a:ext>
            </a:extLst>
          </p:cNvPr>
          <p:cNvSpPr/>
          <p:nvPr/>
        </p:nvSpPr>
        <p:spPr>
          <a:xfrm>
            <a:off x="930275" y="6032500"/>
            <a:ext cx="9410371" cy="6477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47C984-54F4-8693-6FFC-F72D64FB8066}"/>
              </a:ext>
            </a:extLst>
          </p:cNvPr>
          <p:cNvSpPr/>
          <p:nvPr/>
        </p:nvSpPr>
        <p:spPr>
          <a:xfrm>
            <a:off x="9244613" y="6032500"/>
            <a:ext cx="1096033" cy="647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Task -13</a:t>
            </a:r>
            <a:endParaRPr lang="en-I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26BD1A-444B-B1F5-802B-379B996C41B5}"/>
              </a:ext>
            </a:extLst>
          </p:cNvPr>
          <p:cNvSpPr txBox="1">
            <a:spLocks/>
          </p:cNvSpPr>
          <p:nvPr/>
        </p:nvSpPr>
        <p:spPr>
          <a:xfrm>
            <a:off x="444500" y="1548752"/>
            <a:ext cx="2289735" cy="490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/>
              <a:t>SQL Query: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370E1D-027A-FEC5-C9C1-0A002ECA273F}"/>
              </a:ext>
            </a:extLst>
          </p:cNvPr>
          <p:cNvSpPr/>
          <p:nvPr/>
        </p:nvSpPr>
        <p:spPr>
          <a:xfrm>
            <a:off x="444500" y="2124761"/>
            <a:ext cx="3089275" cy="3542614"/>
          </a:xfrm>
          <a:prstGeom prst="roundRect">
            <a:avLst>
              <a:gd name="adj" fmla="val 17430"/>
            </a:avLst>
          </a:prstGeom>
          <a:solidFill>
            <a:schemeClr val="accent5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latin typeface="Tw Cen MT" panose="020B0602020104020603" pitchFamily="34" charset="0"/>
              </a:rPr>
              <a:t>select d.name, sum(</a:t>
            </a:r>
            <a:r>
              <a:rPr lang="en-US" dirty="0" err="1">
                <a:latin typeface="Tw Cen MT" panose="020B0602020104020603" pitchFamily="34" charset="0"/>
              </a:rPr>
              <a:t>m.revenue</a:t>
            </a:r>
            <a:r>
              <a:rPr lang="en-US" dirty="0">
                <a:latin typeface="Tw Cen MT" panose="020B0602020104020603" pitchFamily="34" charset="0"/>
              </a:rPr>
              <a:t>) as Total_revenue, sum(Revenue-Budget) as Profit </a:t>
            </a:r>
          </a:p>
          <a:p>
            <a:r>
              <a:rPr lang="en-US" dirty="0">
                <a:latin typeface="Tw Cen MT" panose="020B0602020104020603" pitchFamily="34" charset="0"/>
              </a:rPr>
              <a:t>from directors d</a:t>
            </a:r>
          </a:p>
          <a:p>
            <a:r>
              <a:rPr lang="en-US" dirty="0">
                <a:latin typeface="Tw Cen MT" panose="020B0602020104020603" pitchFamily="34" charset="0"/>
              </a:rPr>
              <a:t>join movies m on d.id = m.director_id </a:t>
            </a:r>
          </a:p>
          <a:p>
            <a:r>
              <a:rPr lang="en-US" dirty="0">
                <a:latin typeface="Tw Cen MT" panose="020B0602020104020603" pitchFamily="34" charset="0"/>
              </a:rPr>
              <a:t>group by d.name </a:t>
            </a:r>
          </a:p>
          <a:p>
            <a:r>
              <a:rPr lang="en-US" dirty="0">
                <a:latin typeface="Tw Cen MT" panose="020B0602020104020603" pitchFamily="34" charset="0"/>
              </a:rPr>
              <a:t>order by Total_revenue DESC</a:t>
            </a:r>
          </a:p>
          <a:p>
            <a:r>
              <a:rPr lang="en-US" dirty="0">
                <a:latin typeface="Tw Cen MT" panose="020B0602020104020603" pitchFamily="34" charset="0"/>
              </a:rPr>
              <a:t>limit 1;</a:t>
            </a:r>
            <a:endParaRPr lang="en-US" sz="20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8ECED-3E7C-F80F-F688-12ED13A9B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314" y="2124761"/>
            <a:ext cx="5742994" cy="20650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F91C83-B3A0-FD4B-E867-45016754F781}"/>
              </a:ext>
            </a:extLst>
          </p:cNvPr>
          <p:cNvSpPr txBox="1"/>
          <p:nvPr/>
        </p:nvSpPr>
        <p:spPr>
          <a:xfrm>
            <a:off x="4361190" y="4464943"/>
            <a:ext cx="3857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Insights: Join query performed to derive the data of which director is most bankable.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961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4000">
        <p159:morph option="byObject"/>
      </p:transition>
    </mc:Choice>
    <mc:Fallback xmlns="">
      <p:transition spd="slow" advClick="0" advTm="4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255</TotalTime>
  <Words>939</Words>
  <Application>Microsoft Office PowerPoint</Application>
  <PresentationFormat>Widescreen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 Display</vt:lpstr>
      <vt:lpstr>Arial</vt:lpstr>
      <vt:lpstr>Arial Narrow</vt:lpstr>
      <vt:lpstr>Calibri</vt:lpstr>
      <vt:lpstr>Trade Gothic LT Pro</vt:lpstr>
      <vt:lpstr>Trebuchet MS</vt:lpstr>
      <vt:lpstr>Tw Cen MT</vt:lpstr>
      <vt:lpstr>Wingdings</vt:lpstr>
      <vt:lpstr>Office Theme</vt:lpstr>
      <vt:lpstr>PowerPoint Presentation</vt:lpstr>
      <vt:lpstr>Task Questions Covered (Checklist)</vt:lpstr>
      <vt:lpstr>Task – 1: Get all the data from movies table</vt:lpstr>
      <vt:lpstr>Task – 2: Get all the data from Directors Table </vt:lpstr>
      <vt:lpstr>Task – 3: Total Movies Present in IMDB</vt:lpstr>
      <vt:lpstr>Task – 4: Find Directors: James Cameron, Luc Besson, John Woo</vt:lpstr>
      <vt:lpstr>Task – 5: Find Directors name starting with “S”</vt:lpstr>
      <vt:lpstr>Task – 6: Count female Directors </vt:lpstr>
      <vt:lpstr>Task – 7: Find Name of 10th first women director </vt:lpstr>
      <vt:lpstr>Task – 8: Three Most Popular Movies</vt:lpstr>
      <vt:lpstr>Task – 9: 3 Most Bankable Movies</vt:lpstr>
      <vt:lpstr>Task – 10: Most Awarded Average Vote since January 1st 2000</vt:lpstr>
      <vt:lpstr>Task – 11: Movies Directed by Brenda Chapman</vt:lpstr>
      <vt:lpstr>Task – 12: Director Made the most Movies</vt:lpstr>
      <vt:lpstr>Task – 13: Most Bankable Director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Manndeep Patel</dc:creator>
  <cp:lastModifiedBy>Manndeep Patel</cp:lastModifiedBy>
  <cp:revision>149</cp:revision>
  <dcterms:created xsi:type="dcterms:W3CDTF">2026-01-30T09:12:49Z</dcterms:created>
  <dcterms:modified xsi:type="dcterms:W3CDTF">2026-01-31T05:50:25Z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